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atrick Hand"/>
      <p:regular r:id="rId2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3" y="115639"/>
            <a:ext cx="3274814" cy="49122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69023" y="2016249"/>
            <a:ext cx="4665241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Customer Shopping Behavior Analysis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969023" y="2633365"/>
            <a:ext cx="46349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Analysis of 3,900 transactions to reveal spending patterns, segments, product preferences, subscription behavior, and strategic recommendations.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3" y="115639"/>
            <a:ext cx="3274814" cy="49122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69023" y="1339379"/>
            <a:ext cx="3543300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Dataset Snapshot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969023" y="1956495"/>
            <a:ext cx="1442145" cy="1847552"/>
          </a:xfrm>
          <a:prstGeom prst="roundRect">
            <a:avLst>
              <a:gd name="adj" fmla="val 4494"/>
            </a:avLst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32808" y="2120280"/>
            <a:ext cx="111457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Rows &amp; Columns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32808" y="2405732"/>
            <a:ext cx="111457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3,900 rows · 18 columns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65428" y="1956495"/>
            <a:ext cx="1442145" cy="1847552"/>
          </a:xfrm>
          <a:prstGeom prst="roundRect">
            <a:avLst>
              <a:gd name="adj" fmla="val 4494"/>
            </a:avLst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29213" y="2120280"/>
            <a:ext cx="111457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29213" y="2405732"/>
            <a:ext cx="1114574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Demographics, purchase details, behavior, ratings, shipping, discount flags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61833" y="1956495"/>
            <a:ext cx="1442145" cy="1847552"/>
          </a:xfrm>
          <a:prstGeom prst="roundRect">
            <a:avLst>
              <a:gd name="adj" fmla="val 4494"/>
            </a:avLst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25618" y="2120280"/>
            <a:ext cx="111457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Missing Data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25618" y="2405732"/>
            <a:ext cx="111457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37 missing values in Review Rating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2093" y="443285"/>
            <a:ext cx="3109317" cy="331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Preparation (Python)</a:t>
            </a:r>
            <a:endParaRPr lang="en-US" sz="2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93" y="1073869"/>
            <a:ext cx="3498131" cy="34981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8539" y="2329904"/>
            <a:ext cx="3498131" cy="985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Loaded data with pandas; used df.info() and .describe(). Imputed missing Review Rating using category median, standardized column names to snake_case, created age_group and purchase_frequency_days, dropped promo_code_used as redundant, and loaded cleaned DataFrame into PostgreSQL.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706264"/>
            <a:ext cx="3543300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Revenue &amp; Gender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496913"/>
            <a:ext cx="3843784" cy="27667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4956" y="1462236"/>
            <a:ext cx="384378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Male customers generated higher total revenue (157,890) vs Female (75,191).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764956" y="2129582"/>
            <a:ext cx="3843784" cy="848618"/>
          </a:xfrm>
          <a:prstGeom prst="roundRect">
            <a:avLst>
              <a:gd name="adj" fmla="val 7637"/>
            </a:avLst>
          </a:prstGeom>
          <a:solidFill>
            <a:srgbClr val="D9D9D9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216" y="2363614"/>
            <a:ext cx="192881" cy="1542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66358" y="2306985"/>
            <a:ext cx="318812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Use gender insights to tailor promotions and product mixes.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800770"/>
            <a:ext cx="3803303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High-Spending Discount Users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591419"/>
            <a:ext cx="2577703" cy="25777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98875" y="2228404"/>
            <a:ext cx="5109790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Identified 839 rows where customers used discounts yet spent above the average purchase amount. Example purchase amounts include: 64, 73, 90, 85, 97, 68, 72, 81, 90, 62, 88.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498875" y="2895749"/>
            <a:ext cx="5109790" cy="601712"/>
          </a:xfrm>
          <a:prstGeom prst="roundRect">
            <a:avLst>
              <a:gd name="adj" fmla="val 10771"/>
            </a:avLst>
          </a:prstGeom>
          <a:solidFill>
            <a:srgbClr val="B6D6F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135" y="3129781"/>
            <a:ext cx="192881" cy="1542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00277" y="3073152"/>
            <a:ext cx="4911328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Review discount strategy to protect margins while driving conversions.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791667"/>
            <a:ext cx="4522366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Top Products &amp; Discount Dependence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2485951"/>
            <a:ext cx="865808" cy="865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98712" y="2485951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Top Rated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98712" y="2771403"/>
            <a:ext cx="2876848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Gloves (3.86), Sandals (3.84), Boots (3.82), Hat (3.80), Skirt (3.78)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441" y="2485951"/>
            <a:ext cx="865808" cy="8658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27129" y="2485951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Discount-Dependent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27129" y="2771403"/>
            <a:ext cx="2876848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Highest discount rates: Hat 50%, Sneakers 49.66%, Coat 49.07%, Sweater 48.17%, Pants 47.37%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625153"/>
            <a:ext cx="4807521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Customer Segments &amp; Repeat Behavior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415802"/>
            <a:ext cx="3421707" cy="29290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9853" y="2310343"/>
            <a:ext cx="1055627" cy="131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Loyal 3,116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2656450" y="2210645"/>
            <a:ext cx="1055627" cy="131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Returning 701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040668" y="3582959"/>
            <a:ext cx="996981" cy="131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New 83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342879" y="1981498"/>
            <a:ext cx="4265786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Segments based on purchase history show majority are Loyal (3,116). Repeat buyers with &gt;5 purchases are more likely to subscribe: repeat buyers — Yes 958, No 2,518.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42879" y="2895749"/>
            <a:ext cx="4265786" cy="848618"/>
          </a:xfrm>
          <a:prstGeom prst="roundRect">
            <a:avLst>
              <a:gd name="adj" fmla="val 7637"/>
            </a:avLst>
          </a:prstGeom>
          <a:solidFill>
            <a:srgbClr val="B6FCB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139" y="3129781"/>
            <a:ext cx="192881" cy="1542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44281" y="3073152"/>
            <a:ext cx="361012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Focus loyalty programs on converting Returning and New segments.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706264"/>
            <a:ext cx="3772198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Revenue &amp; Sales by Age Group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496913"/>
            <a:ext cx="3843784" cy="27667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4956" y="1462236"/>
            <a:ext cx="384378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High-revenue age groups: Young Adults lead, followed by Middle-aged, Adult, and Senior. Tailor marketing to top-contributing groups.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800770"/>
            <a:ext cx="4482852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Shipping, Subscriptions &amp; Dashboard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591419"/>
            <a:ext cx="2577703" cy="25777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98875" y="2104951"/>
            <a:ext cx="5109790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Average purchase: $59.76 · Avg review rating: 3.75. Shipping comparison: Standard $58.46 vs Express $60.48. Subscription split: Yes 27% / No 73%.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498875" y="2772296"/>
            <a:ext cx="5109790" cy="848618"/>
          </a:xfrm>
          <a:prstGeom prst="roundRect">
            <a:avLst>
              <a:gd name="adj" fmla="val 7637"/>
            </a:avLst>
          </a:prstGeom>
          <a:solidFill>
            <a:srgbClr val="D9D9D9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135" y="3006328"/>
            <a:ext cx="192881" cy="1542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00277" y="2949699"/>
            <a:ext cx="4454128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Dashboard visualizes category revenue and sales, age-group breakdowns, and subscription impact.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51321"/>
            <a:ext cx="3495080" cy="379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Business Recommendations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0973" y="1129978"/>
            <a:ext cx="1922859" cy="1826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102" y="1300907"/>
            <a:ext cx="1504801" cy="1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Boost Subscriptions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68102" y="1580406"/>
            <a:ext cx="1504801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Promote exclusive benefits to increase subscriber share and recurring revenue.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4280" y="1129978"/>
            <a:ext cx="1922934" cy="18268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821409" y="1300907"/>
            <a:ext cx="1504876" cy="1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Loyalty Programs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2821409" y="1580406"/>
            <a:ext cx="1504876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Reward repeat buyers to move more customers into the Loyal segment.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7662" y="1129978"/>
            <a:ext cx="1922934" cy="18268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74791" y="1300907"/>
            <a:ext cx="1504876" cy="1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Review Discount Policy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874791" y="1580406"/>
            <a:ext cx="1504876" cy="1205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Balance discount-driven sales with margin protection; target discount-dependent products.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81043" y="1129978"/>
            <a:ext cx="1922934" cy="182686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28172" y="1300907"/>
            <a:ext cx="1504876" cy="1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Product Positioning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6928172" y="1580406"/>
            <a:ext cx="1504876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Highlight top-rated and best-selling items (Gloves, Sandals, Boots, Blouse, Jewelry).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0973" y="3106341"/>
            <a:ext cx="1922859" cy="158576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68102" y="3277270"/>
            <a:ext cx="1504801" cy="1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Targeted Marketing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768102" y="3556769"/>
            <a:ext cx="1504801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Focus campaigns on high-revenue age groups and express-shipping users to maximize return.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2026-06-21T14:21:39Z</dcterms:created>
  <dcterms:modified xsi:type="dcterms:W3CDTF">2026-06-21T14:21:39Z</dcterms:modified>
</cp:coreProperties>
</file>